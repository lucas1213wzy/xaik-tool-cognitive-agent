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56" r:id="rId3"/>
    <p:sldId id="257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35"/>
    <p:restoredTop sz="94637"/>
  </p:normalViewPr>
  <p:slideViewPr>
    <p:cSldViewPr snapToGrid="0" snapToObjects="1">
      <p:cViewPr>
        <p:scale>
          <a:sx n="128" d="100"/>
          <a:sy n="128" d="100"/>
        </p:scale>
        <p:origin x="936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D0600-9769-D74F-9270-641B62A30196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EB637C-4359-B04B-8F21-56FDBBD7F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96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B637C-4359-B04B-8F21-56FDBBD7F8F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05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2C17-EE48-1FB8-7F02-A0763E9C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B693E4-DF67-8EC4-0D48-9380F5D5E8BB}"/>
              </a:ext>
            </a:extLst>
          </p:cNvPr>
          <p:cNvSpPr/>
          <p:nvPr/>
        </p:nvSpPr>
        <p:spPr>
          <a:xfrm>
            <a:off x="0" y="-1"/>
            <a:ext cx="9144000" cy="1210541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xai_adapter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XAI Types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E08AF-E516-8C07-6CCA-1948BCE89166}"/>
              </a:ext>
            </a:extLst>
          </p:cNvPr>
          <p:cNvSpPr txBox="1"/>
          <p:nvPr/>
        </p:nvSpPr>
        <p:spPr>
          <a:xfrm>
            <a:off x="1027753" y="1857332"/>
            <a:ext cx="2003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5A82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D56B3F-DE46-BDFD-74D7-8A746CC2B335}"/>
              </a:ext>
            </a:extLst>
          </p:cNvPr>
          <p:cNvSpPr/>
          <p:nvPr/>
        </p:nvSpPr>
        <p:spPr>
          <a:xfrm>
            <a:off x="749335" y="2388516"/>
            <a:ext cx="1280160" cy="502881"/>
          </a:xfrm>
          <a:prstGeom prst="rect">
            <a:avLst/>
          </a:prstGeom>
          <a:solidFill>
            <a:srgbClr val="1C7293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Weight-based/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A1F879-208A-07FC-39EF-2332C6B959AD}"/>
              </a:ext>
            </a:extLst>
          </p:cNvPr>
          <p:cNvSpPr/>
          <p:nvPr/>
        </p:nvSpPr>
        <p:spPr>
          <a:xfrm>
            <a:off x="2212375" y="2388516"/>
            <a:ext cx="1280160" cy="502881"/>
          </a:xfrm>
          <a:prstGeom prst="rect">
            <a:avLst/>
          </a:prstGeom>
          <a:solidFill>
            <a:srgbClr val="1C7293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58EC09-CB21-5DB6-55A7-B303E3DD3FB5}"/>
              </a:ext>
            </a:extLst>
          </p:cNvPr>
          <p:cNvSpPr txBox="1"/>
          <p:nvPr/>
        </p:nvSpPr>
        <p:spPr>
          <a:xfrm>
            <a:off x="698981" y="3023464"/>
            <a:ext cx="141328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LIME, SHAP, </a:t>
            </a:r>
          </a:p>
          <a:p>
            <a:pPr>
              <a:defRPr sz="1100"/>
            </a:pPr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Regression,</a:t>
            </a:r>
          </a:p>
          <a:p>
            <a:pPr>
              <a:defRPr sz="1100"/>
            </a:pPr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Regression, Integrated Gradients,</a:t>
            </a:r>
          </a:p>
          <a:p>
            <a:pPr>
              <a:defRPr sz="1100"/>
            </a:pPr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Gradients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9DD3FD-226F-ADE0-AD3E-BB34914BED7F}"/>
              </a:ext>
            </a:extLst>
          </p:cNvPr>
          <p:cNvSpPr txBox="1"/>
          <p:nvPr/>
        </p:nvSpPr>
        <p:spPr>
          <a:xfrm>
            <a:off x="2212375" y="3023462"/>
            <a:ext cx="12801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Trees,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List,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Rule Set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937B3EF-612E-F38C-2A0F-6552FCBC9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262" y="1626444"/>
            <a:ext cx="4920420" cy="23275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A30EDEE-11AE-D0E1-C592-08624CEAC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78" y="4369844"/>
            <a:ext cx="6928697" cy="2165816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33DDC47-9E53-D4FD-B4BE-DB3F02B96E98}"/>
              </a:ext>
            </a:extLst>
          </p:cNvPr>
          <p:cNvSpPr/>
          <p:nvPr/>
        </p:nvSpPr>
        <p:spPr>
          <a:xfrm>
            <a:off x="4008235" y="2028180"/>
            <a:ext cx="2942580" cy="396968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C847C3A-E2B6-C4F0-97F0-2DCFD50EA781}"/>
              </a:ext>
            </a:extLst>
          </p:cNvPr>
          <p:cNvSpPr/>
          <p:nvPr/>
        </p:nvSpPr>
        <p:spPr>
          <a:xfrm>
            <a:off x="2760455" y="4908427"/>
            <a:ext cx="2760453" cy="561417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84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9144000" cy="1210541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xai_adapter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Design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908" y="1321211"/>
            <a:ext cx="177709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6095" y="1826949"/>
            <a:ext cx="274320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XAIAdapter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(Abstract)</a:t>
            </a:r>
            <a:b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fit() | explain()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5908" y="3413177"/>
            <a:ext cx="1280160" cy="411480"/>
          </a:xfrm>
          <a:prstGeom prst="rect">
            <a:avLst/>
          </a:prstGeom>
          <a:solidFill>
            <a:srgbClr val="1C7293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8948" y="3413177"/>
            <a:ext cx="1280160" cy="411480"/>
          </a:xfrm>
          <a:prstGeom prst="rect">
            <a:avLst/>
          </a:prstGeom>
          <a:solidFill>
            <a:srgbClr val="1C7293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Surrogate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4828" y="1321211"/>
            <a:ext cx="17427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4828" y="1809390"/>
            <a:ext cx="320040" cy="32004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6310" y="1809393"/>
            <a:ext cx="302679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Method</a:t>
            </a:r>
            <a:b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class defines skeleton; subclasses fill in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4828" y="2403750"/>
            <a:ext cx="320040" cy="320040"/>
          </a:xfrm>
          <a:prstGeom prst="rect">
            <a:avLst/>
          </a:prstGeom>
          <a:solidFill>
            <a:srgbClr val="FF7043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6311" y="2403753"/>
            <a:ext cx="312457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b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Switch between Attribution vs Surrogate seamlessly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4828" y="2998110"/>
            <a:ext cx="320040" cy="3200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6307" y="2998113"/>
            <a:ext cx="290816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Registry</a:t>
            </a:r>
            <a:b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create &amp; register methods by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6124" y="3917003"/>
            <a:ext cx="3810843" cy="1344302"/>
          </a:xfrm>
          <a:prstGeom prst="rect">
            <a:avLst/>
          </a:prstGeom>
          <a:solidFill>
            <a:srgbClr val="F5F5F5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Extensible  (add new methods without touching base)    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212121"/>
                </a:solidFill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Unified Interface  (all methods return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XAIAdapterResult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212121"/>
                </a:solidFill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Pluggable I/O  (custom algorithms via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make_attribution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make_surrogate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E9247FC-5A23-E2D3-B7CF-E10919F0FEA3}"/>
              </a:ext>
            </a:extLst>
          </p:cNvPr>
          <p:cNvSpPr txBox="1"/>
          <p:nvPr/>
        </p:nvSpPr>
        <p:spPr>
          <a:xfrm>
            <a:off x="1015908" y="4007539"/>
            <a:ext cx="141328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LIME, SHAP, </a:t>
            </a:r>
          </a:p>
          <a:p>
            <a:pPr>
              <a:defRPr sz="1100"/>
            </a:pPr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Gradients,</a:t>
            </a:r>
          </a:p>
          <a:p>
            <a:pPr>
              <a:defRPr sz="1100"/>
            </a:pPr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Gradients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F19A03-215B-EF68-3083-8D119E82D3D2}"/>
              </a:ext>
            </a:extLst>
          </p:cNvPr>
          <p:cNvSpPr txBox="1"/>
          <p:nvPr/>
        </p:nvSpPr>
        <p:spPr>
          <a:xfrm>
            <a:off x="2529302" y="4007537"/>
            <a:ext cx="128016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/>
            </a:pPr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Regression,</a:t>
            </a:r>
          </a:p>
          <a:p>
            <a:pPr>
              <a:defRPr sz="1100"/>
            </a:pPr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>
              <a:defRPr sz="1100"/>
            </a:pPr>
            <a:endParaRPr lang="en-SG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Trees,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List,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Rule Set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889CAE-845F-AD6B-C27C-1633C31B8CB6}"/>
              </a:ext>
            </a:extLst>
          </p:cNvPr>
          <p:cNvSpPr txBox="1"/>
          <p:nvPr/>
        </p:nvSpPr>
        <p:spPr>
          <a:xfrm>
            <a:off x="1036283" y="2519963"/>
            <a:ext cx="2722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5A82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Global </a:t>
            </a:r>
          </a:p>
          <a:p>
            <a:pPr algn="ctr">
              <a:defRPr sz="1800" b="1">
                <a:solidFill>
                  <a:srgbClr val="065A82"/>
                </a:solidFill>
              </a:defRPr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93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Points &amp; Data Flexibility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453" y="1245349"/>
            <a:ext cx="20160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Extension Paths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36C42B-80ED-69FD-06FD-597468B60549}"/>
              </a:ext>
            </a:extLst>
          </p:cNvPr>
          <p:cNvSpPr txBox="1"/>
          <p:nvPr/>
        </p:nvSpPr>
        <p:spPr>
          <a:xfrm>
            <a:off x="1317827" y="5721398"/>
            <a:ext cx="6828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b="0" i="0" dirty="0"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explain() always returns a standardized explanation result; the adapter-specific logic decides how to compute the feature scores and metadata.</a:t>
            </a:r>
            <a:endParaRPr lang="en-US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4768A-293E-49B9-A4A0-313D350A95E3}"/>
              </a:ext>
            </a:extLst>
          </p:cNvPr>
          <p:cNvSpPr txBox="1"/>
          <p:nvPr/>
        </p:nvSpPr>
        <p:spPr>
          <a:xfrm>
            <a:off x="85196" y="3989149"/>
            <a:ext cx="26436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subclasses of existing adapters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353B7E-6BCB-530C-B905-1D2851809D7F}"/>
              </a:ext>
            </a:extLst>
          </p:cNvPr>
          <p:cNvSpPr txBox="1"/>
          <p:nvPr/>
        </p:nvSpPr>
        <p:spPr>
          <a:xfrm>
            <a:off x="4969878" y="1907106"/>
            <a:ext cx="39455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endParaRPr lang="en-SG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12121"/>
                </a:solidFill>
              </a:defRPr>
            </a:pPr>
            <a:endParaRPr lang="en-SG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85474E5-4B47-7A84-2EC6-174B8C9EBBBD}"/>
              </a:ext>
            </a:extLst>
          </p:cNvPr>
          <p:cNvGrpSpPr/>
          <p:nvPr/>
        </p:nvGrpSpPr>
        <p:grpSpPr>
          <a:xfrm>
            <a:off x="2778084" y="1503732"/>
            <a:ext cx="3222070" cy="3904938"/>
            <a:chOff x="964108" y="3017988"/>
            <a:chExt cx="3222070" cy="390493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CC3233F-5314-566C-0530-9562F5BF4DF0}"/>
                </a:ext>
              </a:extLst>
            </p:cNvPr>
            <p:cNvGrpSpPr/>
            <p:nvPr/>
          </p:nvGrpSpPr>
          <p:grpSpPr>
            <a:xfrm>
              <a:off x="2138928" y="3017988"/>
              <a:ext cx="603504" cy="603504"/>
              <a:chOff x="3192954" y="5286439"/>
              <a:chExt cx="603504" cy="603504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D7BFAC4C-C7F8-4637-400E-74D34177791B}"/>
                  </a:ext>
                </a:extLst>
              </p:cNvPr>
              <p:cNvSpPr/>
              <p:nvPr/>
            </p:nvSpPr>
            <p:spPr>
              <a:xfrm>
                <a:off x="3192954" y="5286439"/>
                <a:ext cx="603504" cy="603504"/>
              </a:xfrm>
              <a:prstGeom prst="ellipse">
                <a:avLst/>
              </a:prstGeom>
              <a:solidFill>
                <a:schemeClr val="bg1"/>
              </a:solidFill>
              <a:ln w="15875">
                <a:noFill/>
              </a:ln>
            </p:spPr>
            <p:txBody>
              <a:bodyPr wrap="non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2133" dirty="0">
                  <a:solidFill>
                    <a:srgbClr val="00A854"/>
                  </a:solidFill>
                </a:endParaRPr>
              </a:p>
            </p:txBody>
          </p:sp>
          <p:grpSp>
            <p:nvGrpSpPr>
              <p:cNvPr id="88" name="Graphic 27" descr="Programmer male outline">
                <a:extLst>
                  <a:ext uri="{FF2B5EF4-FFF2-40B4-BE49-F238E27FC236}">
                    <a16:creationId xmlns:a16="http://schemas.microsoft.com/office/drawing/2014/main" id="{3B894971-868D-8461-AE0F-A57E77715028}"/>
                  </a:ext>
                </a:extLst>
              </p:cNvPr>
              <p:cNvGrpSpPr/>
              <p:nvPr/>
            </p:nvGrpSpPr>
            <p:grpSpPr>
              <a:xfrm>
                <a:off x="3288662" y="5321017"/>
                <a:ext cx="412088" cy="534349"/>
                <a:chOff x="6496354" y="4912413"/>
                <a:chExt cx="412088" cy="534349"/>
              </a:xfrm>
              <a:solidFill>
                <a:srgbClr val="000000"/>
              </a:solidFill>
            </p:grpSpPr>
            <p:sp>
              <p:nvSpPr>
                <p:cNvPr id="89" name="Freeform: Shape 61">
                  <a:extLst>
                    <a:ext uri="{FF2B5EF4-FFF2-40B4-BE49-F238E27FC236}">
                      <a16:creationId xmlns:a16="http://schemas.microsoft.com/office/drawing/2014/main" id="{1A198607-5F63-2854-FAD7-64612E9F9D56}"/>
                    </a:ext>
                  </a:extLst>
                </p:cNvPr>
                <p:cNvSpPr/>
                <p:nvPr/>
              </p:nvSpPr>
              <p:spPr>
                <a:xfrm>
                  <a:off x="6496354" y="4912413"/>
                  <a:ext cx="412088" cy="490259"/>
                </a:xfrm>
                <a:custGeom>
                  <a:avLst/>
                  <a:gdLst>
                    <a:gd name="csX0" fmla="*/ 297936 w 412088"/>
                    <a:gd name="csY0" fmla="*/ 281129 h 490259"/>
                    <a:gd name="csX1" fmla="*/ 371870 w 412088"/>
                    <a:gd name="csY1" fmla="*/ 319284 h 490259"/>
                    <a:gd name="csX2" fmla="*/ 388320 w 412088"/>
                    <a:gd name="csY2" fmla="*/ 352186 h 490259"/>
                    <a:gd name="csX3" fmla="*/ 399358 w 412088"/>
                    <a:gd name="csY3" fmla="*/ 442673 h 490259"/>
                    <a:gd name="csX4" fmla="*/ 391570 w 412088"/>
                    <a:gd name="csY4" fmla="*/ 460194 h 490259"/>
                    <a:gd name="csX5" fmla="*/ 356942 w 412088"/>
                    <a:gd name="csY5" fmla="*/ 476995 h 490259"/>
                    <a:gd name="csX6" fmla="*/ 356942 w 412088"/>
                    <a:gd name="csY6" fmla="*/ 490250 h 490259"/>
                    <a:gd name="csX7" fmla="*/ 398588 w 412088"/>
                    <a:gd name="csY7" fmla="*/ 470625 h 490259"/>
                    <a:gd name="csX8" fmla="*/ 411845 w 412088"/>
                    <a:gd name="csY8" fmla="*/ 441194 h 490259"/>
                    <a:gd name="csX9" fmla="*/ 400884 w 412088"/>
                    <a:gd name="csY9" fmla="*/ 351601 h 490259"/>
                    <a:gd name="csX10" fmla="*/ 379728 w 412088"/>
                    <a:gd name="csY10" fmla="*/ 309474 h 490259"/>
                    <a:gd name="csX11" fmla="*/ 301363 w 412088"/>
                    <a:gd name="csY11" fmla="*/ 269017 h 490259"/>
                    <a:gd name="csX12" fmla="*/ 270420 w 412088"/>
                    <a:gd name="csY12" fmla="*/ 256318 h 490259"/>
                    <a:gd name="csX13" fmla="*/ 262621 w 412088"/>
                    <a:gd name="csY13" fmla="*/ 244686 h 490259"/>
                    <a:gd name="csX14" fmla="*/ 262621 w 412088"/>
                    <a:gd name="csY14" fmla="*/ 226156 h 490259"/>
                    <a:gd name="csX15" fmla="*/ 300352 w 412088"/>
                    <a:gd name="csY15" fmla="*/ 150888 h 490259"/>
                    <a:gd name="csX16" fmla="*/ 300352 w 412088"/>
                    <a:gd name="csY16" fmla="*/ 132665 h 490259"/>
                    <a:gd name="csX17" fmla="*/ 310604 w 412088"/>
                    <a:gd name="csY17" fmla="*/ 134810 h 490259"/>
                    <a:gd name="csX18" fmla="*/ 316891 w 412088"/>
                    <a:gd name="csY18" fmla="*/ 128523 h 490259"/>
                    <a:gd name="csX19" fmla="*/ 316569 w 412088"/>
                    <a:gd name="csY19" fmla="*/ 126537 h 490259"/>
                    <a:gd name="csX20" fmla="*/ 310203 w 412088"/>
                    <a:gd name="csY20" fmla="*/ 107426 h 490259"/>
                    <a:gd name="csX21" fmla="*/ 303546 w 412088"/>
                    <a:gd name="csY21" fmla="*/ 80810 h 490259"/>
                    <a:gd name="csX22" fmla="*/ 249457 w 412088"/>
                    <a:gd name="csY22" fmla="*/ 11069 h 490259"/>
                    <a:gd name="csX23" fmla="*/ 235490 w 412088"/>
                    <a:gd name="csY23" fmla="*/ 12097 h 490259"/>
                    <a:gd name="csX24" fmla="*/ 233593 w 412088"/>
                    <a:gd name="csY24" fmla="*/ 9283 h 490259"/>
                    <a:gd name="csX25" fmla="*/ 222297 w 412088"/>
                    <a:gd name="csY25" fmla="*/ 1602 h 490259"/>
                    <a:gd name="csX26" fmla="*/ 110722 w 412088"/>
                    <a:gd name="csY26" fmla="*/ 72279 h 490259"/>
                    <a:gd name="csX27" fmla="*/ 106573 w 412088"/>
                    <a:gd name="csY27" fmla="*/ 98682 h 490259"/>
                    <a:gd name="csX28" fmla="*/ 106514 w 412088"/>
                    <a:gd name="csY28" fmla="*/ 108076 h 490259"/>
                    <a:gd name="csX29" fmla="*/ 101185 w 412088"/>
                    <a:gd name="csY29" fmla="*/ 133636 h 490259"/>
                    <a:gd name="csX30" fmla="*/ 89477 w 412088"/>
                    <a:gd name="csY30" fmla="*/ 160969 h 490259"/>
                    <a:gd name="csX31" fmla="*/ 92778 w 412088"/>
                    <a:gd name="csY31" fmla="*/ 169224 h 490259"/>
                    <a:gd name="csX32" fmla="*/ 95255 w 412088"/>
                    <a:gd name="csY32" fmla="*/ 169732 h 490259"/>
                    <a:gd name="csX33" fmla="*/ 96709 w 412088"/>
                    <a:gd name="csY33" fmla="*/ 169561 h 490259"/>
                    <a:gd name="csX34" fmla="*/ 112908 w 412088"/>
                    <a:gd name="csY34" fmla="*/ 165260 h 490259"/>
                    <a:gd name="csX35" fmla="*/ 149433 w 412088"/>
                    <a:gd name="csY35" fmla="*/ 226119 h 490259"/>
                    <a:gd name="csX36" fmla="*/ 149433 w 412088"/>
                    <a:gd name="csY36" fmla="*/ 244686 h 490259"/>
                    <a:gd name="csX37" fmla="*/ 141633 w 412088"/>
                    <a:gd name="csY37" fmla="*/ 256316 h 490259"/>
                    <a:gd name="csX38" fmla="*/ 110481 w 412088"/>
                    <a:gd name="csY38" fmla="*/ 269102 h 490259"/>
                    <a:gd name="csX39" fmla="*/ 32457 w 412088"/>
                    <a:gd name="csY39" fmla="*/ 309388 h 490259"/>
                    <a:gd name="csX40" fmla="*/ 11194 w 412088"/>
                    <a:gd name="csY40" fmla="*/ 351601 h 490259"/>
                    <a:gd name="csX41" fmla="*/ 239 w 412088"/>
                    <a:gd name="csY41" fmla="*/ 441240 h 490259"/>
                    <a:gd name="csX42" fmla="*/ 13509 w 412088"/>
                    <a:gd name="csY42" fmla="*/ 470628 h 490259"/>
                    <a:gd name="csX43" fmla="*/ 55188 w 412088"/>
                    <a:gd name="csY43" fmla="*/ 490260 h 490259"/>
                    <a:gd name="csX44" fmla="*/ 55188 w 412088"/>
                    <a:gd name="csY44" fmla="*/ 477005 h 490259"/>
                    <a:gd name="csX45" fmla="*/ 20524 w 412088"/>
                    <a:gd name="csY45" fmla="*/ 460194 h 490259"/>
                    <a:gd name="csX46" fmla="*/ 12724 w 412088"/>
                    <a:gd name="csY46" fmla="*/ 442718 h 490259"/>
                    <a:gd name="csX47" fmla="*/ 23710 w 412088"/>
                    <a:gd name="csY47" fmla="*/ 352821 h 490259"/>
                    <a:gd name="csX48" fmla="*/ 23756 w 412088"/>
                    <a:gd name="csY48" fmla="*/ 352192 h 490259"/>
                    <a:gd name="csX49" fmla="*/ 40310 w 412088"/>
                    <a:gd name="csY49" fmla="*/ 319207 h 490259"/>
                    <a:gd name="csX50" fmla="*/ 114114 w 412088"/>
                    <a:gd name="csY50" fmla="*/ 281146 h 490259"/>
                    <a:gd name="csX51" fmla="*/ 127189 w 412088"/>
                    <a:gd name="csY51" fmla="*/ 276561 h 490259"/>
                    <a:gd name="csX52" fmla="*/ 206043 w 412088"/>
                    <a:gd name="csY52" fmla="*/ 295484 h 490259"/>
                    <a:gd name="csX53" fmla="*/ 284883 w 412088"/>
                    <a:gd name="csY53" fmla="*/ 276561 h 490259"/>
                    <a:gd name="csX54" fmla="*/ 112742 w 412088"/>
                    <a:gd name="csY54" fmla="*/ 138592 h 490259"/>
                    <a:gd name="csX55" fmla="*/ 119091 w 412088"/>
                    <a:gd name="csY55" fmla="*/ 108154 h 490259"/>
                    <a:gd name="csX56" fmla="*/ 119150 w 412088"/>
                    <a:gd name="csY56" fmla="*/ 98763 h 490259"/>
                    <a:gd name="csX57" fmla="*/ 122676 w 412088"/>
                    <a:gd name="csY57" fmla="*/ 76184 h 490259"/>
                    <a:gd name="csX58" fmla="*/ 205314 w 412088"/>
                    <a:gd name="csY58" fmla="*/ 12570 h 490259"/>
                    <a:gd name="csX59" fmla="*/ 219981 w 412088"/>
                    <a:gd name="csY59" fmla="*/ 13960 h 490259"/>
                    <a:gd name="csX60" fmla="*/ 223164 w 412088"/>
                    <a:gd name="csY60" fmla="*/ 16303 h 490259"/>
                    <a:gd name="csX61" fmla="*/ 228772 w 412088"/>
                    <a:gd name="csY61" fmla="*/ 24627 h 490259"/>
                    <a:gd name="csX62" fmla="*/ 237498 w 412088"/>
                    <a:gd name="csY62" fmla="*/ 26330 h 490259"/>
                    <a:gd name="csX63" fmla="*/ 237782 w 412088"/>
                    <a:gd name="csY63" fmla="*/ 26128 h 490259"/>
                    <a:gd name="csX64" fmla="*/ 242843 w 412088"/>
                    <a:gd name="csY64" fmla="*/ 22301 h 490259"/>
                    <a:gd name="csX65" fmla="*/ 243571 w 412088"/>
                    <a:gd name="csY65" fmla="*/ 22175 h 490259"/>
                    <a:gd name="csX66" fmla="*/ 291207 w 412088"/>
                    <a:gd name="csY66" fmla="*/ 83232 h 490259"/>
                    <a:gd name="csX67" fmla="*/ 291210 w 412088"/>
                    <a:gd name="csY67" fmla="*/ 83232 h 490259"/>
                    <a:gd name="csX68" fmla="*/ 298273 w 412088"/>
                    <a:gd name="csY68" fmla="*/ 111402 h 490259"/>
                    <a:gd name="csX69" fmla="*/ 300846 w 412088"/>
                    <a:gd name="csY69" fmla="*/ 119125 h 490259"/>
                    <a:gd name="csX70" fmla="*/ 263504 w 412088"/>
                    <a:gd name="csY70" fmla="*/ 78640 h 490259"/>
                    <a:gd name="csX71" fmla="*/ 258497 w 412088"/>
                    <a:gd name="csY71" fmla="*/ 75699 h 490259"/>
                    <a:gd name="csX72" fmla="*/ 253217 w 412088"/>
                    <a:gd name="csY72" fmla="*/ 78118 h 490259"/>
                    <a:gd name="csX73" fmla="*/ 106115 w 412088"/>
                    <a:gd name="csY73" fmla="*/ 154062 h 490259"/>
                    <a:gd name="csX74" fmla="*/ 125126 w 412088"/>
                    <a:gd name="csY74" fmla="*/ 161642 h 490259"/>
                    <a:gd name="csX75" fmla="*/ 257564 w 412088"/>
                    <a:gd name="csY75" fmla="*/ 92379 h 490259"/>
                    <a:gd name="csX76" fmla="*/ 287781 w 412088"/>
                    <a:gd name="csY76" fmla="*/ 125446 h 490259"/>
                    <a:gd name="csX77" fmla="*/ 287781 w 412088"/>
                    <a:gd name="csY77" fmla="*/ 150887 h 490259"/>
                    <a:gd name="csX78" fmla="*/ 206150 w 412088"/>
                    <a:gd name="csY78" fmla="*/ 232614 h 490259"/>
                    <a:gd name="csX79" fmla="*/ 125126 w 412088"/>
                    <a:gd name="csY79" fmla="*/ 161641 h 490259"/>
                    <a:gd name="csX80" fmla="*/ 206048 w 412088"/>
                    <a:gd name="csY80" fmla="*/ 282904 h 490259"/>
                    <a:gd name="csX81" fmla="*/ 141161 w 412088"/>
                    <a:gd name="csY81" fmla="*/ 270098 h 490259"/>
                    <a:gd name="csX82" fmla="*/ 146403 w 412088"/>
                    <a:gd name="csY82" fmla="*/ 267946 h 490259"/>
                    <a:gd name="csX83" fmla="*/ 162003 w 412088"/>
                    <a:gd name="csY83" fmla="*/ 244686 h 490259"/>
                    <a:gd name="csX84" fmla="*/ 162003 w 412088"/>
                    <a:gd name="csY84" fmla="*/ 234138 h 490259"/>
                    <a:gd name="csX85" fmla="*/ 250048 w 412088"/>
                    <a:gd name="csY85" fmla="*/ 234232 h 490259"/>
                    <a:gd name="csX86" fmla="*/ 250048 w 412088"/>
                    <a:gd name="csY86" fmla="*/ 244687 h 490259"/>
                    <a:gd name="csX87" fmla="*/ 265645 w 412088"/>
                    <a:gd name="csY87" fmla="*/ 267947 h 490259"/>
                    <a:gd name="csX88" fmla="*/ 270904 w 412088"/>
                    <a:gd name="csY88" fmla="*/ 270106 h 490259"/>
                    <a:gd name="csX89" fmla="*/ 206048 w 412088"/>
                    <a:gd name="csY89" fmla="*/ 282904 h 4902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</a:cxnLst>
                  <a:rect l="l" t="t" r="r" b="b"/>
                  <a:pathLst>
                    <a:path w="412088" h="490259">
                      <a:moveTo>
                        <a:pt x="297936" y="281129"/>
                      </a:moveTo>
                      <a:cubicBezTo>
                        <a:pt x="325022" y="290849"/>
                        <a:pt x="350651" y="301924"/>
                        <a:pt x="371870" y="319284"/>
                      </a:cubicBezTo>
                      <a:cubicBezTo>
                        <a:pt x="382033" y="327210"/>
                        <a:pt x="388077" y="339299"/>
                        <a:pt x="388320" y="352186"/>
                      </a:cubicBezTo>
                      <a:lnTo>
                        <a:pt x="399358" y="442673"/>
                      </a:lnTo>
                      <a:cubicBezTo>
                        <a:pt x="400249" y="449511"/>
                        <a:pt x="397243" y="456274"/>
                        <a:pt x="391570" y="460194"/>
                      </a:cubicBezTo>
                      <a:cubicBezTo>
                        <a:pt x="380755" y="467184"/>
                        <a:pt x="369126" y="472826"/>
                        <a:pt x="356942" y="476995"/>
                      </a:cubicBezTo>
                      <a:lnTo>
                        <a:pt x="356942" y="490250"/>
                      </a:lnTo>
                      <a:cubicBezTo>
                        <a:pt x="371615" y="485538"/>
                        <a:pt x="385614" y="478941"/>
                        <a:pt x="398588" y="470625"/>
                      </a:cubicBezTo>
                      <a:cubicBezTo>
                        <a:pt x="408178" y="464079"/>
                        <a:pt x="413297" y="452714"/>
                        <a:pt x="411845" y="441194"/>
                      </a:cubicBezTo>
                      <a:lnTo>
                        <a:pt x="400884" y="351601"/>
                      </a:lnTo>
                      <a:cubicBezTo>
                        <a:pt x="400482" y="335103"/>
                        <a:pt x="392722" y="319648"/>
                        <a:pt x="379728" y="309474"/>
                      </a:cubicBezTo>
                      <a:cubicBezTo>
                        <a:pt x="356922" y="290815"/>
                        <a:pt x="329844" y="279194"/>
                        <a:pt x="301363" y="269017"/>
                      </a:cubicBezTo>
                      <a:lnTo>
                        <a:pt x="270420" y="256318"/>
                      </a:lnTo>
                      <a:cubicBezTo>
                        <a:pt x="265693" y="254393"/>
                        <a:pt x="262607" y="249790"/>
                        <a:pt x="262621" y="244686"/>
                      </a:cubicBezTo>
                      <a:lnTo>
                        <a:pt x="262621" y="226156"/>
                      </a:lnTo>
                      <a:cubicBezTo>
                        <a:pt x="286345" y="208405"/>
                        <a:pt x="300325" y="180518"/>
                        <a:pt x="300352" y="150888"/>
                      </a:cubicBezTo>
                      <a:lnTo>
                        <a:pt x="300352" y="132665"/>
                      </a:lnTo>
                      <a:cubicBezTo>
                        <a:pt x="303607" y="134007"/>
                        <a:pt x="307084" y="134735"/>
                        <a:pt x="310604" y="134810"/>
                      </a:cubicBezTo>
                      <a:cubicBezTo>
                        <a:pt x="314076" y="134810"/>
                        <a:pt x="316891" y="131995"/>
                        <a:pt x="316891" y="128523"/>
                      </a:cubicBezTo>
                      <a:cubicBezTo>
                        <a:pt x="316891" y="127848"/>
                        <a:pt x="316782" y="127178"/>
                        <a:pt x="316569" y="126537"/>
                      </a:cubicBezTo>
                      <a:lnTo>
                        <a:pt x="310203" y="107426"/>
                      </a:lnTo>
                      <a:cubicBezTo>
                        <a:pt x="307425" y="98703"/>
                        <a:pt x="305202" y="89813"/>
                        <a:pt x="303546" y="80810"/>
                      </a:cubicBezTo>
                      <a:cubicBezTo>
                        <a:pt x="297346" y="50415"/>
                        <a:pt x="277353" y="24636"/>
                        <a:pt x="249457" y="11069"/>
                      </a:cubicBezTo>
                      <a:cubicBezTo>
                        <a:pt x="244983" y="8737"/>
                        <a:pt x="239574" y="9136"/>
                        <a:pt x="235490" y="12097"/>
                      </a:cubicBezTo>
                      <a:lnTo>
                        <a:pt x="233593" y="9283"/>
                      </a:lnTo>
                      <a:cubicBezTo>
                        <a:pt x="231019" y="5303"/>
                        <a:pt x="226945" y="2533"/>
                        <a:pt x="222297" y="1602"/>
                      </a:cubicBezTo>
                      <a:cubicBezTo>
                        <a:pt x="173636" y="-7547"/>
                        <a:pt x="126712" y="23344"/>
                        <a:pt x="110722" y="72279"/>
                      </a:cubicBezTo>
                      <a:cubicBezTo>
                        <a:pt x="107982" y="80813"/>
                        <a:pt x="106582" y="89720"/>
                        <a:pt x="106573" y="98682"/>
                      </a:cubicBezTo>
                      <a:lnTo>
                        <a:pt x="106514" y="108076"/>
                      </a:lnTo>
                      <a:cubicBezTo>
                        <a:pt x="106470" y="116867"/>
                        <a:pt x="104658" y="125560"/>
                        <a:pt x="101185" y="133636"/>
                      </a:cubicBezTo>
                      <a:lnTo>
                        <a:pt x="89477" y="160969"/>
                      </a:lnTo>
                      <a:cubicBezTo>
                        <a:pt x="88109" y="164160"/>
                        <a:pt x="89587" y="167856"/>
                        <a:pt x="92778" y="169224"/>
                      </a:cubicBezTo>
                      <a:cubicBezTo>
                        <a:pt x="93561" y="169560"/>
                        <a:pt x="94403" y="169732"/>
                        <a:pt x="95255" y="169732"/>
                      </a:cubicBezTo>
                      <a:cubicBezTo>
                        <a:pt x="95744" y="169733"/>
                        <a:pt x="96233" y="169675"/>
                        <a:pt x="96709" y="169561"/>
                      </a:cubicBezTo>
                      <a:cubicBezTo>
                        <a:pt x="97760" y="169309"/>
                        <a:pt x="103741" y="167863"/>
                        <a:pt x="112908" y="165260"/>
                      </a:cubicBezTo>
                      <a:cubicBezTo>
                        <a:pt x="116686" y="189532"/>
                        <a:pt x="129791" y="211369"/>
                        <a:pt x="149433" y="226119"/>
                      </a:cubicBezTo>
                      <a:lnTo>
                        <a:pt x="149433" y="244686"/>
                      </a:lnTo>
                      <a:cubicBezTo>
                        <a:pt x="149446" y="249790"/>
                        <a:pt x="146359" y="254391"/>
                        <a:pt x="141633" y="256316"/>
                      </a:cubicBezTo>
                      <a:lnTo>
                        <a:pt x="110481" y="269102"/>
                      </a:lnTo>
                      <a:cubicBezTo>
                        <a:pt x="82090" y="279259"/>
                        <a:pt x="55112" y="290854"/>
                        <a:pt x="32457" y="309388"/>
                      </a:cubicBezTo>
                      <a:cubicBezTo>
                        <a:pt x="19409" y="319568"/>
                        <a:pt x="11608" y="335057"/>
                        <a:pt x="11194" y="351601"/>
                      </a:cubicBezTo>
                      <a:lnTo>
                        <a:pt x="239" y="441240"/>
                      </a:lnTo>
                      <a:cubicBezTo>
                        <a:pt x="-1197" y="452749"/>
                        <a:pt x="3926" y="464095"/>
                        <a:pt x="13509" y="470628"/>
                      </a:cubicBezTo>
                      <a:cubicBezTo>
                        <a:pt x="26494" y="478947"/>
                        <a:pt x="40504" y="485546"/>
                        <a:pt x="55188" y="490260"/>
                      </a:cubicBezTo>
                      <a:lnTo>
                        <a:pt x="55188" y="477005"/>
                      </a:lnTo>
                      <a:cubicBezTo>
                        <a:pt x="42992" y="472834"/>
                        <a:pt x="31350" y="467189"/>
                        <a:pt x="20524" y="460194"/>
                      </a:cubicBezTo>
                      <a:cubicBezTo>
                        <a:pt x="14859" y="456287"/>
                        <a:pt x="11850" y="449544"/>
                        <a:pt x="12724" y="442718"/>
                      </a:cubicBezTo>
                      <a:lnTo>
                        <a:pt x="23710" y="352821"/>
                      </a:lnTo>
                      <a:lnTo>
                        <a:pt x="23756" y="352192"/>
                      </a:lnTo>
                      <a:cubicBezTo>
                        <a:pt x="24010" y="339262"/>
                        <a:pt x="30094" y="327138"/>
                        <a:pt x="40310" y="319207"/>
                      </a:cubicBezTo>
                      <a:cubicBezTo>
                        <a:pt x="61438" y="301919"/>
                        <a:pt x="87038" y="290862"/>
                        <a:pt x="114114" y="281146"/>
                      </a:cubicBezTo>
                      <a:lnTo>
                        <a:pt x="127189" y="276561"/>
                      </a:lnTo>
                      <a:cubicBezTo>
                        <a:pt x="144198" y="288290"/>
                        <a:pt x="173920" y="295484"/>
                        <a:pt x="206043" y="295484"/>
                      </a:cubicBezTo>
                      <a:cubicBezTo>
                        <a:pt x="238154" y="295484"/>
                        <a:pt x="267874" y="288292"/>
                        <a:pt x="284883" y="276561"/>
                      </a:cubicBezTo>
                      <a:close/>
                      <a:moveTo>
                        <a:pt x="112742" y="138592"/>
                      </a:moveTo>
                      <a:cubicBezTo>
                        <a:pt x="116879" y="128974"/>
                        <a:pt x="119038" y="118623"/>
                        <a:pt x="119091" y="108154"/>
                      </a:cubicBezTo>
                      <a:lnTo>
                        <a:pt x="119150" y="98763"/>
                      </a:lnTo>
                      <a:cubicBezTo>
                        <a:pt x="119150" y="91100"/>
                        <a:pt x="120340" y="83482"/>
                        <a:pt x="122676" y="76184"/>
                      </a:cubicBezTo>
                      <a:cubicBezTo>
                        <a:pt x="135104" y="38133"/>
                        <a:pt x="168317" y="12570"/>
                        <a:pt x="205314" y="12570"/>
                      </a:cubicBezTo>
                      <a:cubicBezTo>
                        <a:pt x="210235" y="12579"/>
                        <a:pt x="215146" y="13044"/>
                        <a:pt x="219981" y="13960"/>
                      </a:cubicBezTo>
                      <a:cubicBezTo>
                        <a:pt x="221309" y="14292"/>
                        <a:pt x="222453" y="15134"/>
                        <a:pt x="223164" y="16303"/>
                      </a:cubicBezTo>
                      <a:lnTo>
                        <a:pt x="228772" y="24627"/>
                      </a:lnTo>
                      <a:cubicBezTo>
                        <a:pt x="230712" y="27507"/>
                        <a:pt x="234618" y="28270"/>
                        <a:pt x="237498" y="26330"/>
                      </a:cubicBezTo>
                      <a:cubicBezTo>
                        <a:pt x="237594" y="26266"/>
                        <a:pt x="237689" y="26198"/>
                        <a:pt x="237782" y="26128"/>
                      </a:cubicBezTo>
                      <a:lnTo>
                        <a:pt x="242843" y="22301"/>
                      </a:lnTo>
                      <a:cubicBezTo>
                        <a:pt x="243045" y="22129"/>
                        <a:pt x="243323" y="22081"/>
                        <a:pt x="243571" y="22175"/>
                      </a:cubicBezTo>
                      <a:cubicBezTo>
                        <a:pt x="268191" y="33875"/>
                        <a:pt x="285847" y="56506"/>
                        <a:pt x="291207" y="83232"/>
                      </a:cubicBezTo>
                      <a:lnTo>
                        <a:pt x="291210" y="83232"/>
                      </a:lnTo>
                      <a:cubicBezTo>
                        <a:pt x="292966" y="92762"/>
                        <a:pt x="295325" y="102171"/>
                        <a:pt x="298273" y="111402"/>
                      </a:cubicBezTo>
                      <a:lnTo>
                        <a:pt x="300846" y="119125"/>
                      </a:lnTo>
                      <a:cubicBezTo>
                        <a:pt x="287545" y="111592"/>
                        <a:pt x="271888" y="92005"/>
                        <a:pt x="263504" y="78640"/>
                      </a:cubicBezTo>
                      <a:cubicBezTo>
                        <a:pt x="262415" y="76902"/>
                        <a:pt x="260546" y="75804"/>
                        <a:pt x="258497" y="75699"/>
                      </a:cubicBezTo>
                      <a:cubicBezTo>
                        <a:pt x="256445" y="75580"/>
                        <a:pt x="254467" y="76486"/>
                        <a:pt x="253217" y="78118"/>
                      </a:cubicBezTo>
                      <a:cubicBezTo>
                        <a:pt x="221767" y="118550"/>
                        <a:pt x="137790" y="145185"/>
                        <a:pt x="106115" y="154062"/>
                      </a:cubicBezTo>
                      <a:close/>
                      <a:moveTo>
                        <a:pt x="125126" y="161642"/>
                      </a:moveTo>
                      <a:cubicBezTo>
                        <a:pt x="162097" y="150274"/>
                        <a:pt x="225549" y="126867"/>
                        <a:pt x="257564" y="92379"/>
                      </a:cubicBezTo>
                      <a:cubicBezTo>
                        <a:pt x="265964" y="104820"/>
                        <a:pt x="276145" y="115961"/>
                        <a:pt x="287781" y="125446"/>
                      </a:cubicBezTo>
                      <a:lnTo>
                        <a:pt x="287781" y="150887"/>
                      </a:lnTo>
                      <a:cubicBezTo>
                        <a:pt x="287808" y="195997"/>
                        <a:pt x="251260" y="232588"/>
                        <a:pt x="206150" y="232614"/>
                      </a:cubicBezTo>
                      <a:cubicBezTo>
                        <a:pt x="165159" y="232639"/>
                        <a:pt x="130499" y="202278"/>
                        <a:pt x="125126" y="161641"/>
                      </a:cubicBezTo>
                      <a:close/>
                      <a:moveTo>
                        <a:pt x="206048" y="282904"/>
                      </a:moveTo>
                      <a:cubicBezTo>
                        <a:pt x="183741" y="283454"/>
                        <a:pt x="161587" y="279082"/>
                        <a:pt x="141161" y="270098"/>
                      </a:cubicBezTo>
                      <a:lnTo>
                        <a:pt x="146403" y="267946"/>
                      </a:lnTo>
                      <a:cubicBezTo>
                        <a:pt x="155855" y="264094"/>
                        <a:pt x="162025" y="254893"/>
                        <a:pt x="162003" y="244686"/>
                      </a:cubicBezTo>
                      <a:lnTo>
                        <a:pt x="162003" y="234138"/>
                      </a:lnTo>
                      <a:cubicBezTo>
                        <a:pt x="189502" y="248836"/>
                        <a:pt x="222517" y="248871"/>
                        <a:pt x="250048" y="234232"/>
                      </a:cubicBezTo>
                      <a:lnTo>
                        <a:pt x="250048" y="244687"/>
                      </a:lnTo>
                      <a:cubicBezTo>
                        <a:pt x="250026" y="254892"/>
                        <a:pt x="256195" y="264093"/>
                        <a:pt x="265645" y="267947"/>
                      </a:cubicBezTo>
                      <a:lnTo>
                        <a:pt x="270904" y="270106"/>
                      </a:lnTo>
                      <a:cubicBezTo>
                        <a:pt x="250488" y="279084"/>
                        <a:pt x="228344" y="283453"/>
                        <a:pt x="206048" y="28290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" name="Freeform: Shape 62">
                  <a:extLst>
                    <a:ext uri="{FF2B5EF4-FFF2-40B4-BE49-F238E27FC236}">
                      <a16:creationId xmlns:a16="http://schemas.microsoft.com/office/drawing/2014/main" id="{37A1CA19-6F96-5AC1-5893-ECF5018E441E}"/>
                    </a:ext>
                  </a:extLst>
                </p:cNvPr>
                <p:cNvSpPr/>
                <p:nvPr/>
              </p:nvSpPr>
              <p:spPr>
                <a:xfrm>
                  <a:off x="6520113" y="5245594"/>
                  <a:ext cx="364615" cy="201168"/>
                </a:xfrm>
                <a:custGeom>
                  <a:avLst/>
                  <a:gdLst>
                    <a:gd name="csX0" fmla="*/ 320610 w 364615"/>
                    <a:gd name="csY0" fmla="*/ 22254 h 201168"/>
                    <a:gd name="csX1" fmla="*/ 298231 w 364615"/>
                    <a:gd name="csY1" fmla="*/ 0 h 201168"/>
                    <a:gd name="csX2" fmla="*/ 298169 w 364615"/>
                    <a:gd name="csY2" fmla="*/ 0 h 201168"/>
                    <a:gd name="csX3" fmla="*/ 66260 w 364615"/>
                    <a:gd name="csY3" fmla="*/ 0 h 201168"/>
                    <a:gd name="csX4" fmla="*/ 44006 w 364615"/>
                    <a:gd name="csY4" fmla="*/ 22254 h 201168"/>
                    <a:gd name="csX5" fmla="*/ 44006 w 364615"/>
                    <a:gd name="csY5" fmla="*/ 164644 h 201168"/>
                    <a:gd name="csX6" fmla="*/ 0 w 364615"/>
                    <a:gd name="csY6" fmla="*/ 164644 h 201168"/>
                    <a:gd name="csX7" fmla="*/ 0 w 364615"/>
                    <a:gd name="csY7" fmla="*/ 178939 h 201168"/>
                    <a:gd name="csX8" fmla="*/ 22254 w 364615"/>
                    <a:gd name="csY8" fmla="*/ 201168 h 201168"/>
                    <a:gd name="csX9" fmla="*/ 342386 w 364615"/>
                    <a:gd name="csY9" fmla="*/ 201168 h 201168"/>
                    <a:gd name="csX10" fmla="*/ 364616 w 364615"/>
                    <a:gd name="csY10" fmla="*/ 178914 h 201168"/>
                    <a:gd name="csX11" fmla="*/ 364616 w 364615"/>
                    <a:gd name="csY11" fmla="*/ 164644 h 201168"/>
                    <a:gd name="csX12" fmla="*/ 320610 w 364615"/>
                    <a:gd name="csY12" fmla="*/ 164644 h 201168"/>
                    <a:gd name="csX13" fmla="*/ 352043 w 364615"/>
                    <a:gd name="csY13" fmla="*/ 177217 h 201168"/>
                    <a:gd name="csX14" fmla="*/ 352043 w 364615"/>
                    <a:gd name="csY14" fmla="*/ 178890 h 201168"/>
                    <a:gd name="csX15" fmla="*/ 342362 w 364615"/>
                    <a:gd name="csY15" fmla="*/ 188595 h 201168"/>
                    <a:gd name="csX16" fmla="*/ 22278 w 364615"/>
                    <a:gd name="csY16" fmla="*/ 188595 h 201168"/>
                    <a:gd name="csX17" fmla="*/ 12572 w 364615"/>
                    <a:gd name="csY17" fmla="*/ 178914 h 201168"/>
                    <a:gd name="csX18" fmla="*/ 12572 w 364615"/>
                    <a:gd name="csY18" fmla="*/ 177217 h 201168"/>
                    <a:gd name="csX19" fmla="*/ 56577 w 364615"/>
                    <a:gd name="csY19" fmla="*/ 177217 h 201168"/>
                    <a:gd name="csX20" fmla="*/ 56577 w 364615"/>
                    <a:gd name="csY20" fmla="*/ 22254 h 201168"/>
                    <a:gd name="csX21" fmla="*/ 66258 w 364615"/>
                    <a:gd name="csY21" fmla="*/ 12573 h 201168"/>
                    <a:gd name="csX22" fmla="*/ 298356 w 364615"/>
                    <a:gd name="csY22" fmla="*/ 12573 h 201168"/>
                    <a:gd name="csX23" fmla="*/ 308037 w 364615"/>
                    <a:gd name="csY23" fmla="*/ 22254 h 201168"/>
                    <a:gd name="csX24" fmla="*/ 308037 w 364615"/>
                    <a:gd name="csY24" fmla="*/ 177217 h 2011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</a:cxnLst>
                  <a:rect l="l" t="t" r="r" b="b"/>
                  <a:pathLst>
                    <a:path w="364615" h="201168">
                      <a:moveTo>
                        <a:pt x="320610" y="22254"/>
                      </a:moveTo>
                      <a:cubicBezTo>
                        <a:pt x="320576" y="9929"/>
                        <a:pt x="310556" y="-34"/>
                        <a:pt x="298231" y="0"/>
                      </a:cubicBezTo>
                      <a:cubicBezTo>
                        <a:pt x="298210" y="0"/>
                        <a:pt x="298189" y="0"/>
                        <a:pt x="298169" y="0"/>
                      </a:cubicBezTo>
                      <a:lnTo>
                        <a:pt x="66260" y="0"/>
                      </a:lnTo>
                      <a:cubicBezTo>
                        <a:pt x="53975" y="13"/>
                        <a:pt x="44019" y="9969"/>
                        <a:pt x="44006" y="22254"/>
                      </a:cubicBezTo>
                      <a:lnTo>
                        <a:pt x="44006" y="164644"/>
                      </a:lnTo>
                      <a:lnTo>
                        <a:pt x="0" y="164644"/>
                      </a:lnTo>
                      <a:lnTo>
                        <a:pt x="0" y="178939"/>
                      </a:lnTo>
                      <a:cubicBezTo>
                        <a:pt x="82" y="191191"/>
                        <a:pt x="10001" y="201099"/>
                        <a:pt x="22254" y="201168"/>
                      </a:cubicBezTo>
                      <a:lnTo>
                        <a:pt x="342386" y="201168"/>
                      </a:lnTo>
                      <a:cubicBezTo>
                        <a:pt x="354638" y="201086"/>
                        <a:pt x="364547" y="191166"/>
                        <a:pt x="364616" y="178914"/>
                      </a:cubicBezTo>
                      <a:lnTo>
                        <a:pt x="364616" y="164644"/>
                      </a:lnTo>
                      <a:lnTo>
                        <a:pt x="320610" y="164644"/>
                      </a:lnTo>
                      <a:close/>
                      <a:moveTo>
                        <a:pt x="352043" y="177217"/>
                      </a:moveTo>
                      <a:lnTo>
                        <a:pt x="352043" y="178890"/>
                      </a:lnTo>
                      <a:cubicBezTo>
                        <a:pt x="352010" y="184227"/>
                        <a:pt x="347699" y="188549"/>
                        <a:pt x="342362" y="188595"/>
                      </a:cubicBezTo>
                      <a:lnTo>
                        <a:pt x="22278" y="188595"/>
                      </a:lnTo>
                      <a:cubicBezTo>
                        <a:pt x="16941" y="188562"/>
                        <a:pt x="12618" y="184251"/>
                        <a:pt x="12572" y="178914"/>
                      </a:cubicBezTo>
                      <a:lnTo>
                        <a:pt x="12572" y="177217"/>
                      </a:lnTo>
                      <a:lnTo>
                        <a:pt x="56577" y="177217"/>
                      </a:lnTo>
                      <a:lnTo>
                        <a:pt x="56577" y="22254"/>
                      </a:lnTo>
                      <a:cubicBezTo>
                        <a:pt x="56584" y="16910"/>
                        <a:pt x="60914" y="12579"/>
                        <a:pt x="66258" y="12573"/>
                      </a:cubicBezTo>
                      <a:lnTo>
                        <a:pt x="298356" y="12573"/>
                      </a:lnTo>
                      <a:cubicBezTo>
                        <a:pt x="303700" y="12579"/>
                        <a:pt x="308031" y="16910"/>
                        <a:pt x="308037" y="22254"/>
                      </a:cubicBezTo>
                      <a:lnTo>
                        <a:pt x="308037" y="1772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91" name="Freeform: Shape 63">
                  <a:extLst>
                    <a:ext uri="{FF2B5EF4-FFF2-40B4-BE49-F238E27FC236}">
                      <a16:creationId xmlns:a16="http://schemas.microsoft.com/office/drawing/2014/main" id="{0E691A7F-F966-A577-FA30-29B2C8D3B510}"/>
                    </a:ext>
                  </a:extLst>
                </p:cNvPr>
                <p:cNvSpPr/>
                <p:nvPr/>
              </p:nvSpPr>
              <p:spPr>
                <a:xfrm>
                  <a:off x="6625739" y="5308648"/>
                  <a:ext cx="44131" cy="70534"/>
                </a:xfrm>
                <a:custGeom>
                  <a:avLst/>
                  <a:gdLst>
                    <a:gd name="csX0" fmla="*/ 35267 w 44131"/>
                    <a:gd name="csY0" fmla="*/ 0 h 70534"/>
                    <a:gd name="csX1" fmla="*/ 0 w 44131"/>
                    <a:gd name="csY1" fmla="*/ 35267 h 70534"/>
                    <a:gd name="csX2" fmla="*/ 35267 w 44131"/>
                    <a:gd name="csY2" fmla="*/ 70535 h 70534"/>
                    <a:gd name="csX3" fmla="*/ 44131 w 44131"/>
                    <a:gd name="csY3" fmla="*/ 61671 h 70534"/>
                    <a:gd name="csX4" fmla="*/ 17791 w 44131"/>
                    <a:gd name="csY4" fmla="*/ 35267 h 70534"/>
                    <a:gd name="csX5" fmla="*/ 44131 w 44131"/>
                    <a:gd name="csY5" fmla="*/ 8864 h 70534"/>
                    <a:gd name="csX6" fmla="*/ 35267 w 44131"/>
                    <a:gd name="csY6" fmla="*/ 0 h 7053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44131" h="70534">
                      <a:moveTo>
                        <a:pt x="35267" y="0"/>
                      </a:moveTo>
                      <a:lnTo>
                        <a:pt x="0" y="35267"/>
                      </a:lnTo>
                      <a:lnTo>
                        <a:pt x="35267" y="70535"/>
                      </a:lnTo>
                      <a:lnTo>
                        <a:pt x="44131" y="61671"/>
                      </a:lnTo>
                      <a:lnTo>
                        <a:pt x="17791" y="35267"/>
                      </a:lnTo>
                      <a:lnTo>
                        <a:pt x="44131" y="8864"/>
                      </a:lnTo>
                      <a:lnTo>
                        <a:pt x="3526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25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" name="Freeform: Shape 64">
                  <a:extLst>
                    <a:ext uri="{FF2B5EF4-FFF2-40B4-BE49-F238E27FC236}">
                      <a16:creationId xmlns:a16="http://schemas.microsoft.com/office/drawing/2014/main" id="{9C87999C-B08D-6400-1BDD-527E29C31368}"/>
                    </a:ext>
                  </a:extLst>
                </p:cNvPr>
                <p:cNvSpPr/>
                <p:nvPr/>
              </p:nvSpPr>
              <p:spPr>
                <a:xfrm>
                  <a:off x="6734747" y="5308648"/>
                  <a:ext cx="44131" cy="70534"/>
                </a:xfrm>
                <a:custGeom>
                  <a:avLst/>
                  <a:gdLst>
                    <a:gd name="csX0" fmla="*/ 0 w 44131"/>
                    <a:gd name="csY0" fmla="*/ 8864 h 70534"/>
                    <a:gd name="csX1" fmla="*/ 26340 w 44131"/>
                    <a:gd name="csY1" fmla="*/ 35267 h 70534"/>
                    <a:gd name="csX2" fmla="*/ 0 w 44131"/>
                    <a:gd name="csY2" fmla="*/ 61671 h 70534"/>
                    <a:gd name="csX3" fmla="*/ 8864 w 44131"/>
                    <a:gd name="csY3" fmla="*/ 70535 h 70534"/>
                    <a:gd name="csX4" fmla="*/ 44131 w 44131"/>
                    <a:gd name="csY4" fmla="*/ 35267 h 70534"/>
                    <a:gd name="csX5" fmla="*/ 8864 w 44131"/>
                    <a:gd name="csY5" fmla="*/ 0 h 70534"/>
                    <a:gd name="csX6" fmla="*/ 0 w 44131"/>
                    <a:gd name="csY6" fmla="*/ 8864 h 7053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44131" h="70534">
                      <a:moveTo>
                        <a:pt x="0" y="8864"/>
                      </a:moveTo>
                      <a:lnTo>
                        <a:pt x="26340" y="35267"/>
                      </a:lnTo>
                      <a:lnTo>
                        <a:pt x="0" y="61671"/>
                      </a:lnTo>
                      <a:lnTo>
                        <a:pt x="8864" y="70535"/>
                      </a:lnTo>
                      <a:lnTo>
                        <a:pt x="44131" y="35267"/>
                      </a:lnTo>
                      <a:lnTo>
                        <a:pt x="8864" y="0"/>
                      </a:lnTo>
                      <a:lnTo>
                        <a:pt x="0" y="886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25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" name="Freeform: Shape 65">
                  <a:extLst>
                    <a:ext uri="{FF2B5EF4-FFF2-40B4-BE49-F238E27FC236}">
                      <a16:creationId xmlns:a16="http://schemas.microsoft.com/office/drawing/2014/main" id="{E1C2CD82-84DD-894F-7F16-419D1F054E0C}"/>
                    </a:ext>
                  </a:extLst>
                </p:cNvPr>
                <p:cNvSpPr/>
                <p:nvPr/>
              </p:nvSpPr>
              <p:spPr>
                <a:xfrm>
                  <a:off x="6681689" y="5307579"/>
                  <a:ext cx="41050" cy="76003"/>
                </a:xfrm>
                <a:custGeom>
                  <a:avLst/>
                  <a:gdLst>
                    <a:gd name="csX0" fmla="*/ 0 w 41050"/>
                    <a:gd name="csY0" fmla="*/ 71163 h 76003"/>
                    <a:gd name="csX1" fmla="*/ 11630 w 41050"/>
                    <a:gd name="csY1" fmla="*/ 76004 h 76003"/>
                    <a:gd name="csX2" fmla="*/ 41051 w 41050"/>
                    <a:gd name="csY2" fmla="*/ 4841 h 76003"/>
                    <a:gd name="csX3" fmla="*/ 29484 w 41050"/>
                    <a:gd name="csY3" fmla="*/ 0 h 76003"/>
                    <a:gd name="csX4" fmla="*/ 0 w 41050"/>
                    <a:gd name="csY4" fmla="*/ 71163 h 760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1050" h="76003">
                      <a:moveTo>
                        <a:pt x="0" y="71163"/>
                      </a:moveTo>
                      <a:lnTo>
                        <a:pt x="11630" y="76004"/>
                      </a:lnTo>
                      <a:lnTo>
                        <a:pt x="41051" y="4841"/>
                      </a:lnTo>
                      <a:lnTo>
                        <a:pt x="29484" y="0"/>
                      </a:lnTo>
                      <a:lnTo>
                        <a:pt x="0" y="711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25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A65F318-FAAA-5A9D-A512-E7D691887D56}"/>
                </a:ext>
              </a:extLst>
            </p:cNvPr>
            <p:cNvGrpSpPr/>
            <p:nvPr/>
          </p:nvGrpSpPr>
          <p:grpSpPr>
            <a:xfrm>
              <a:off x="2179272" y="3593853"/>
              <a:ext cx="523992" cy="523992"/>
              <a:chOff x="3225487" y="4545124"/>
              <a:chExt cx="603504" cy="603504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806475D6-EE17-1DB2-C8F0-82CFAE547D4E}"/>
                  </a:ext>
                </a:extLst>
              </p:cNvPr>
              <p:cNvSpPr/>
              <p:nvPr/>
            </p:nvSpPr>
            <p:spPr>
              <a:xfrm>
                <a:off x="3225487" y="4545124"/>
                <a:ext cx="603504" cy="603504"/>
              </a:xfrm>
              <a:prstGeom prst="ellipse">
                <a:avLst/>
              </a:prstGeom>
              <a:solidFill>
                <a:schemeClr val="bg1"/>
              </a:solidFill>
              <a:ln w="15875">
                <a:noFill/>
              </a:ln>
            </p:spPr>
            <p:txBody>
              <a:bodyPr wrap="non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2133" dirty="0">
                  <a:solidFill>
                    <a:srgbClr val="00A854"/>
                  </a:solidFill>
                </a:endParaRPr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C09BDDE8-48EB-BBA8-3574-77F11317E037}"/>
                  </a:ext>
                </a:extLst>
              </p:cNvPr>
              <p:cNvGrpSpPr/>
              <p:nvPr/>
            </p:nvGrpSpPr>
            <p:grpSpPr>
              <a:xfrm>
                <a:off x="3286739" y="4608767"/>
                <a:ext cx="481001" cy="476219"/>
                <a:chOff x="4681095" y="3135975"/>
                <a:chExt cx="772030" cy="764353"/>
              </a:xfrm>
              <a:solidFill>
                <a:schemeClr val="tx1">
                  <a:lumMod val="50000"/>
                  <a:lumOff val="50000"/>
                </a:schemeClr>
              </a:solidFill>
            </p:grpSpPr>
            <p:sp>
              <p:nvSpPr>
                <p:cNvPr id="80" name="Freeform: Shape 30">
                  <a:extLst>
                    <a:ext uri="{FF2B5EF4-FFF2-40B4-BE49-F238E27FC236}">
                      <a16:creationId xmlns:a16="http://schemas.microsoft.com/office/drawing/2014/main" id="{8EE2CB9F-7819-C3C4-AAA5-49BAD7CD59C1}"/>
                    </a:ext>
                  </a:extLst>
                </p:cNvPr>
                <p:cNvSpPr/>
                <p:nvPr/>
              </p:nvSpPr>
              <p:spPr>
                <a:xfrm>
                  <a:off x="4821436" y="3265859"/>
                  <a:ext cx="491499" cy="295618"/>
                </a:xfrm>
                <a:custGeom>
                  <a:avLst/>
                  <a:gdLst>
                    <a:gd name="connsiteX0" fmla="*/ 245726 w 491499"/>
                    <a:gd name="connsiteY0" fmla="*/ 0 h 295617"/>
                    <a:gd name="connsiteX1" fmla="*/ 0 w 491499"/>
                    <a:gd name="connsiteY1" fmla="*/ 147542 h 295617"/>
                    <a:gd name="connsiteX2" fmla="*/ 245774 w 491499"/>
                    <a:gd name="connsiteY2" fmla="*/ 295618 h 295617"/>
                    <a:gd name="connsiteX3" fmla="*/ 491500 w 491499"/>
                    <a:gd name="connsiteY3" fmla="*/ 148076 h 295617"/>
                    <a:gd name="connsiteX4" fmla="*/ 245726 w 491499"/>
                    <a:gd name="connsiteY4" fmla="*/ 0 h 295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1499" h="295617">
                      <a:moveTo>
                        <a:pt x="245726" y="0"/>
                      </a:moveTo>
                      <a:lnTo>
                        <a:pt x="0" y="147542"/>
                      </a:lnTo>
                      <a:lnTo>
                        <a:pt x="245774" y="295618"/>
                      </a:lnTo>
                      <a:lnTo>
                        <a:pt x="491500" y="148076"/>
                      </a:lnTo>
                      <a:lnTo>
                        <a:pt x="245726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1867" dirty="0"/>
                    <a:t>AI</a:t>
                  </a:r>
                </a:p>
              </p:txBody>
            </p:sp>
            <p:sp>
              <p:nvSpPr>
                <p:cNvPr id="81" name="Freeform: Shape 32">
                  <a:extLst>
                    <a:ext uri="{FF2B5EF4-FFF2-40B4-BE49-F238E27FC236}">
                      <a16:creationId xmlns:a16="http://schemas.microsoft.com/office/drawing/2014/main" id="{F0C62035-DF92-BD29-206A-094AE0AAEC26}"/>
                    </a:ext>
                  </a:extLst>
                </p:cNvPr>
                <p:cNvSpPr/>
                <p:nvPr/>
              </p:nvSpPr>
              <p:spPr>
                <a:xfrm>
                  <a:off x="4798615" y="3624408"/>
                  <a:ext cx="254146" cy="275920"/>
                </a:xfrm>
                <a:custGeom>
                  <a:avLst/>
                  <a:gdLst>
                    <a:gd name="connsiteX0" fmla="*/ 141646 w 254146"/>
                    <a:gd name="connsiteY0" fmla="*/ 102175 h 275920"/>
                    <a:gd name="connsiteX1" fmla="*/ 0 w 254146"/>
                    <a:gd name="connsiteY1" fmla="*/ 16326 h 275920"/>
                    <a:gd name="connsiteX2" fmla="*/ 0 w 254146"/>
                    <a:gd name="connsiteY2" fmla="*/ 121872 h 275920"/>
                    <a:gd name="connsiteX3" fmla="*/ 254146 w 254146"/>
                    <a:gd name="connsiteY3" fmla="*/ 275920 h 275920"/>
                    <a:gd name="connsiteX4" fmla="*/ 254146 w 254146"/>
                    <a:gd name="connsiteY4" fmla="*/ 0 h 275920"/>
                    <a:gd name="connsiteX5" fmla="*/ 141646 w 254146"/>
                    <a:gd name="connsiteY5" fmla="*/ 102175 h 275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4146" h="275920">
                      <a:moveTo>
                        <a:pt x="141646" y="102175"/>
                      </a:moveTo>
                      <a:lnTo>
                        <a:pt x="0" y="16326"/>
                      </a:lnTo>
                      <a:lnTo>
                        <a:pt x="0" y="121872"/>
                      </a:lnTo>
                      <a:lnTo>
                        <a:pt x="254146" y="275920"/>
                      </a:lnTo>
                      <a:lnTo>
                        <a:pt x="254146" y="0"/>
                      </a:lnTo>
                      <a:lnTo>
                        <a:pt x="141646" y="10217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2400" dirty="0"/>
                </a:p>
              </p:txBody>
            </p:sp>
            <p:sp>
              <p:nvSpPr>
                <p:cNvPr id="82" name="Freeform: Shape 34">
                  <a:extLst>
                    <a:ext uri="{FF2B5EF4-FFF2-40B4-BE49-F238E27FC236}">
                      <a16:creationId xmlns:a16="http://schemas.microsoft.com/office/drawing/2014/main" id="{3AE0E999-EDF5-9AC5-6EE0-FF730BEC5ED8}"/>
                    </a:ext>
                  </a:extLst>
                </p:cNvPr>
                <p:cNvSpPr/>
                <p:nvPr/>
              </p:nvSpPr>
              <p:spPr>
                <a:xfrm>
                  <a:off x="4681095" y="3135975"/>
                  <a:ext cx="371608" cy="259460"/>
                </a:xfrm>
                <a:custGeom>
                  <a:avLst/>
                  <a:gdLst>
                    <a:gd name="connsiteX0" fmla="*/ 371608 w 371608"/>
                    <a:gd name="connsiteY0" fmla="*/ 105242 h 259460"/>
                    <a:gd name="connsiteX1" fmla="*/ 255746 w 371608"/>
                    <a:gd name="connsiteY1" fmla="*/ 0 h 259460"/>
                    <a:gd name="connsiteX2" fmla="*/ 0 w 371608"/>
                    <a:gd name="connsiteY2" fmla="*/ 155010 h 259460"/>
                    <a:gd name="connsiteX3" fmla="*/ 114757 w 371608"/>
                    <a:gd name="connsiteY3" fmla="*/ 259461 h 259460"/>
                    <a:gd name="connsiteX4" fmla="*/ 371608 w 371608"/>
                    <a:gd name="connsiteY4" fmla="*/ 105242 h 2594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608" h="259460">
                      <a:moveTo>
                        <a:pt x="371608" y="105242"/>
                      </a:moveTo>
                      <a:lnTo>
                        <a:pt x="255746" y="0"/>
                      </a:lnTo>
                      <a:lnTo>
                        <a:pt x="0" y="155010"/>
                      </a:lnTo>
                      <a:lnTo>
                        <a:pt x="114757" y="259461"/>
                      </a:lnTo>
                      <a:lnTo>
                        <a:pt x="371608" y="10524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2400"/>
                </a:p>
              </p:txBody>
            </p:sp>
            <p:sp>
              <p:nvSpPr>
                <p:cNvPr id="83" name="Freeform: Shape 35">
                  <a:extLst>
                    <a:ext uri="{FF2B5EF4-FFF2-40B4-BE49-F238E27FC236}">
                      <a16:creationId xmlns:a16="http://schemas.microsoft.com/office/drawing/2014/main" id="{1CA6DEE6-49BC-A7DF-3DEE-A141CF6CA300}"/>
                    </a:ext>
                  </a:extLst>
                </p:cNvPr>
                <p:cNvSpPr/>
                <p:nvPr/>
              </p:nvSpPr>
              <p:spPr>
                <a:xfrm>
                  <a:off x="5081555" y="3135975"/>
                  <a:ext cx="371570" cy="259737"/>
                </a:xfrm>
                <a:custGeom>
                  <a:avLst/>
                  <a:gdLst>
                    <a:gd name="connsiteX0" fmla="*/ 256508 w 371570"/>
                    <a:gd name="connsiteY0" fmla="*/ 259737 h 259737"/>
                    <a:gd name="connsiteX1" fmla="*/ 371570 w 371570"/>
                    <a:gd name="connsiteY1" fmla="*/ 155010 h 259737"/>
                    <a:gd name="connsiteX2" fmla="*/ 115814 w 371570"/>
                    <a:gd name="connsiteY2" fmla="*/ 0 h 259737"/>
                    <a:gd name="connsiteX3" fmla="*/ 0 w 371570"/>
                    <a:gd name="connsiteY3" fmla="*/ 105194 h 259737"/>
                    <a:gd name="connsiteX4" fmla="*/ 256508 w 371570"/>
                    <a:gd name="connsiteY4" fmla="*/ 259737 h 259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570" h="259737">
                      <a:moveTo>
                        <a:pt x="256508" y="259737"/>
                      </a:moveTo>
                      <a:lnTo>
                        <a:pt x="371570" y="155010"/>
                      </a:lnTo>
                      <a:lnTo>
                        <a:pt x="115814" y="0"/>
                      </a:lnTo>
                      <a:lnTo>
                        <a:pt x="0" y="105194"/>
                      </a:lnTo>
                      <a:lnTo>
                        <a:pt x="256508" y="259737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2400" dirty="0"/>
                </a:p>
              </p:txBody>
            </p:sp>
            <p:sp>
              <p:nvSpPr>
                <p:cNvPr id="84" name="Freeform: Shape 37">
                  <a:extLst>
                    <a:ext uri="{FF2B5EF4-FFF2-40B4-BE49-F238E27FC236}">
                      <a16:creationId xmlns:a16="http://schemas.microsoft.com/office/drawing/2014/main" id="{7C5C8CDA-400E-D642-B495-DD63F67A2692}"/>
                    </a:ext>
                  </a:extLst>
                </p:cNvPr>
                <p:cNvSpPr/>
                <p:nvPr/>
              </p:nvSpPr>
              <p:spPr>
                <a:xfrm>
                  <a:off x="4681095" y="3431460"/>
                  <a:ext cx="371446" cy="259632"/>
                </a:xfrm>
                <a:custGeom>
                  <a:avLst/>
                  <a:gdLst>
                    <a:gd name="connsiteX0" fmla="*/ 114948 w 371446"/>
                    <a:gd name="connsiteY0" fmla="*/ 0 h 259632"/>
                    <a:gd name="connsiteX1" fmla="*/ 0 w 371446"/>
                    <a:gd name="connsiteY1" fmla="*/ 104632 h 259632"/>
                    <a:gd name="connsiteX2" fmla="*/ 255746 w 371446"/>
                    <a:gd name="connsiteY2" fmla="*/ 259632 h 259632"/>
                    <a:gd name="connsiteX3" fmla="*/ 371446 w 371446"/>
                    <a:gd name="connsiteY3" fmla="*/ 154543 h 259632"/>
                    <a:gd name="connsiteX4" fmla="*/ 114948 w 371446"/>
                    <a:gd name="connsiteY4" fmla="*/ 0 h 259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46" h="259632">
                      <a:moveTo>
                        <a:pt x="114948" y="0"/>
                      </a:moveTo>
                      <a:lnTo>
                        <a:pt x="0" y="104632"/>
                      </a:lnTo>
                      <a:lnTo>
                        <a:pt x="255746" y="259632"/>
                      </a:lnTo>
                      <a:lnTo>
                        <a:pt x="371446" y="154543"/>
                      </a:lnTo>
                      <a:lnTo>
                        <a:pt x="114948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2400"/>
                </a:p>
              </p:txBody>
            </p:sp>
            <p:sp>
              <p:nvSpPr>
                <p:cNvPr id="85" name="Freeform: Shape 38">
                  <a:extLst>
                    <a:ext uri="{FF2B5EF4-FFF2-40B4-BE49-F238E27FC236}">
                      <a16:creationId xmlns:a16="http://schemas.microsoft.com/office/drawing/2014/main" id="{EA59A693-38F8-E15E-8995-546E45C4ECE0}"/>
                    </a:ext>
                  </a:extLst>
                </p:cNvPr>
                <p:cNvSpPr/>
                <p:nvPr/>
              </p:nvSpPr>
              <p:spPr>
                <a:xfrm>
                  <a:off x="5081755" y="3431850"/>
                  <a:ext cx="371370" cy="259241"/>
                </a:xfrm>
                <a:custGeom>
                  <a:avLst/>
                  <a:gdLst>
                    <a:gd name="connsiteX0" fmla="*/ 0 w 371370"/>
                    <a:gd name="connsiteY0" fmla="*/ 154229 h 259241"/>
                    <a:gd name="connsiteX1" fmla="*/ 115614 w 371370"/>
                    <a:gd name="connsiteY1" fmla="*/ 259242 h 259241"/>
                    <a:gd name="connsiteX2" fmla="*/ 371370 w 371370"/>
                    <a:gd name="connsiteY2" fmla="*/ 104242 h 259241"/>
                    <a:gd name="connsiteX3" fmla="*/ 256851 w 371370"/>
                    <a:gd name="connsiteY3" fmla="*/ 0 h 259241"/>
                    <a:gd name="connsiteX4" fmla="*/ 0 w 371370"/>
                    <a:gd name="connsiteY4" fmla="*/ 154229 h 25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370" h="259241">
                      <a:moveTo>
                        <a:pt x="0" y="154229"/>
                      </a:moveTo>
                      <a:lnTo>
                        <a:pt x="115614" y="259242"/>
                      </a:lnTo>
                      <a:lnTo>
                        <a:pt x="371370" y="104242"/>
                      </a:lnTo>
                      <a:lnTo>
                        <a:pt x="256851" y="0"/>
                      </a:lnTo>
                      <a:lnTo>
                        <a:pt x="0" y="154229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2400"/>
                </a:p>
              </p:txBody>
            </p:sp>
            <p:sp>
              <p:nvSpPr>
                <p:cNvPr id="86" name="Freeform: Shape 44">
                  <a:extLst>
                    <a:ext uri="{FF2B5EF4-FFF2-40B4-BE49-F238E27FC236}">
                      <a16:creationId xmlns:a16="http://schemas.microsoft.com/office/drawing/2014/main" id="{1E7FEF3D-6D2C-B66C-98F2-F0AA51156056}"/>
                    </a:ext>
                  </a:extLst>
                </p:cNvPr>
                <p:cNvSpPr/>
                <p:nvPr/>
              </p:nvSpPr>
              <p:spPr>
                <a:xfrm flipH="1">
                  <a:off x="5081536" y="3624408"/>
                  <a:ext cx="254146" cy="275920"/>
                </a:xfrm>
                <a:custGeom>
                  <a:avLst/>
                  <a:gdLst>
                    <a:gd name="connsiteX0" fmla="*/ 141646 w 254146"/>
                    <a:gd name="connsiteY0" fmla="*/ 102175 h 275920"/>
                    <a:gd name="connsiteX1" fmla="*/ 0 w 254146"/>
                    <a:gd name="connsiteY1" fmla="*/ 16326 h 275920"/>
                    <a:gd name="connsiteX2" fmla="*/ 0 w 254146"/>
                    <a:gd name="connsiteY2" fmla="*/ 121872 h 275920"/>
                    <a:gd name="connsiteX3" fmla="*/ 254146 w 254146"/>
                    <a:gd name="connsiteY3" fmla="*/ 275920 h 275920"/>
                    <a:gd name="connsiteX4" fmla="*/ 254146 w 254146"/>
                    <a:gd name="connsiteY4" fmla="*/ 0 h 275920"/>
                    <a:gd name="connsiteX5" fmla="*/ 141646 w 254146"/>
                    <a:gd name="connsiteY5" fmla="*/ 102175 h 275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4146" h="275920">
                      <a:moveTo>
                        <a:pt x="141646" y="102175"/>
                      </a:moveTo>
                      <a:lnTo>
                        <a:pt x="0" y="16326"/>
                      </a:lnTo>
                      <a:lnTo>
                        <a:pt x="0" y="121872"/>
                      </a:lnTo>
                      <a:lnTo>
                        <a:pt x="254146" y="275920"/>
                      </a:lnTo>
                      <a:lnTo>
                        <a:pt x="254146" y="0"/>
                      </a:lnTo>
                      <a:lnTo>
                        <a:pt x="141646" y="10217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2400" dirty="0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6D8A479-82BF-CE64-2BA5-988FAAEE4F0A}"/>
                </a:ext>
              </a:extLst>
            </p:cNvPr>
            <p:cNvGrpSpPr/>
            <p:nvPr/>
          </p:nvGrpSpPr>
          <p:grpSpPr>
            <a:xfrm>
              <a:off x="2131635" y="4327728"/>
              <a:ext cx="603504" cy="603504"/>
              <a:chOff x="3209220" y="3803809"/>
              <a:chExt cx="603504" cy="603504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95D38CE-A89C-5DCC-ED21-673DE3F9F4EC}"/>
                  </a:ext>
                </a:extLst>
              </p:cNvPr>
              <p:cNvSpPr/>
              <p:nvPr/>
            </p:nvSpPr>
            <p:spPr>
              <a:xfrm>
                <a:off x="3209220" y="3803809"/>
                <a:ext cx="603504" cy="603504"/>
              </a:xfrm>
              <a:prstGeom prst="ellipse">
                <a:avLst/>
              </a:prstGeom>
              <a:solidFill>
                <a:schemeClr val="bg1"/>
              </a:solidFill>
              <a:ln w="15875">
                <a:noFill/>
              </a:ln>
            </p:spPr>
            <p:txBody>
              <a:bodyPr wrap="non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2133" dirty="0">
                  <a:solidFill>
                    <a:srgbClr val="00A854"/>
                  </a:solidFill>
                </a:endParaRP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679CAC53-0867-E6AA-11D9-1004DB535805}"/>
                  </a:ext>
                </a:extLst>
              </p:cNvPr>
              <p:cNvGrpSpPr/>
              <p:nvPr/>
            </p:nvGrpSpPr>
            <p:grpSpPr>
              <a:xfrm>
                <a:off x="3282372" y="3876961"/>
                <a:ext cx="457200" cy="457200"/>
                <a:chOff x="8478510" y="5604939"/>
                <a:chExt cx="425802" cy="425802"/>
              </a:xfrm>
            </p:grpSpPr>
            <p:sp>
              <p:nvSpPr>
                <p:cNvPr id="76" name="Rectangle: Rounded Corners 165">
                  <a:extLst>
                    <a:ext uri="{FF2B5EF4-FFF2-40B4-BE49-F238E27FC236}">
                      <a16:creationId xmlns:a16="http://schemas.microsoft.com/office/drawing/2014/main" id="{2C8F0F6B-5D14-E52A-5094-D720C3EFC4C0}"/>
                    </a:ext>
                  </a:extLst>
                </p:cNvPr>
                <p:cNvSpPr/>
                <p:nvPr/>
              </p:nvSpPr>
              <p:spPr>
                <a:xfrm>
                  <a:off x="8526074" y="5643246"/>
                  <a:ext cx="349188" cy="349188"/>
                </a:xfrm>
                <a:prstGeom prst="roundRect">
                  <a:avLst>
                    <a:gd name="adj" fmla="val 32133"/>
                  </a:avLst>
                </a:prstGeom>
                <a:solidFill>
                  <a:schemeClr val="tx1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pic>
              <p:nvPicPr>
                <p:cNvPr id="77" name="Graphic 76" descr="Plugged Unplugged with solid fill">
                  <a:extLst>
                    <a:ext uri="{FF2B5EF4-FFF2-40B4-BE49-F238E27FC236}">
                      <a16:creationId xmlns:a16="http://schemas.microsoft.com/office/drawing/2014/main" id="{F12000E2-921C-E449-6B73-CAD74D68C2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78510" y="5604939"/>
                  <a:ext cx="425802" cy="425802"/>
                </a:xfrm>
                <a:prstGeom prst="rect">
                  <a:avLst/>
                </a:prstGeom>
              </p:spPr>
            </p:pic>
          </p:grp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9D5D1D4-0C2F-34A8-5E50-073A031F84B1}"/>
                </a:ext>
              </a:extLst>
            </p:cNvPr>
            <p:cNvSpPr txBox="1"/>
            <p:nvPr/>
          </p:nvSpPr>
          <p:spPr>
            <a:xfrm>
              <a:off x="1972082" y="4823586"/>
              <a:ext cx="953979" cy="215444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r"/>
              <a:r>
                <a:rPr lang="en-US" sz="1400" dirty="0">
                  <a:solidFill>
                    <a:schemeClr val="tx1"/>
                  </a:solidFill>
                </a:rPr>
                <a:t>XAI Adapter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F3F7129-C0F7-3532-0080-1A36439075C6}"/>
                </a:ext>
              </a:extLst>
            </p:cNvPr>
            <p:cNvSpPr txBox="1"/>
            <p:nvPr/>
          </p:nvSpPr>
          <p:spPr>
            <a:xfrm>
              <a:off x="964108" y="3270045"/>
              <a:ext cx="1132298" cy="215444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r"/>
              <a:r>
                <a:rPr lang="en-US" sz="1400" dirty="0">
                  <a:solidFill>
                    <a:schemeClr val="tx1"/>
                  </a:solidFill>
                </a:rPr>
                <a:t>XAI Developer</a:t>
              </a:r>
            </a:p>
          </p:txBody>
        </p:sp>
        <p:cxnSp>
          <p:nvCxnSpPr>
            <p:cNvPr id="65" name="Straight Connector 196">
              <a:extLst>
                <a:ext uri="{FF2B5EF4-FFF2-40B4-BE49-F238E27FC236}">
                  <a16:creationId xmlns:a16="http://schemas.microsoft.com/office/drawing/2014/main" id="{B97DFD58-8605-344F-E915-EC4781AAE6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8868" y="5067582"/>
              <a:ext cx="834519" cy="286553"/>
            </a:xfrm>
            <a:prstGeom prst="straightConnector1">
              <a:avLst/>
            </a:prstGeom>
            <a:ln w="12700" cap="rnd"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8A474E7-D0D7-63AA-D1A5-227F76E838A2}"/>
                </a:ext>
              </a:extLst>
            </p:cNvPr>
            <p:cNvSpPr txBox="1"/>
            <p:nvPr/>
          </p:nvSpPr>
          <p:spPr>
            <a:xfrm>
              <a:off x="1123217" y="5369385"/>
              <a:ext cx="948978" cy="2154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r"/>
              <a:r>
                <a:rPr lang="en-US" sz="1400" dirty="0">
                  <a:solidFill>
                    <a:schemeClr val="tx1"/>
                  </a:solidFill>
                </a:rPr>
                <a:t>Subclassing </a:t>
              </a:r>
            </a:p>
          </p:txBody>
        </p:sp>
        <p:cxnSp>
          <p:nvCxnSpPr>
            <p:cNvPr id="67" name="Straight Connector 196">
              <a:extLst>
                <a:ext uri="{FF2B5EF4-FFF2-40B4-BE49-F238E27FC236}">
                  <a16:creationId xmlns:a16="http://schemas.microsoft.com/office/drawing/2014/main" id="{8C59EE08-42D2-6B6C-47DA-71E2EB9F0CEF}"/>
                </a:ext>
              </a:extLst>
            </p:cNvPr>
            <p:cNvCxnSpPr>
              <a:cxnSpLocks/>
            </p:cNvCxnSpPr>
            <p:nvPr/>
          </p:nvCxnSpPr>
          <p:spPr>
            <a:xfrm>
              <a:off x="2433387" y="5067582"/>
              <a:ext cx="969743" cy="286553"/>
            </a:xfrm>
            <a:prstGeom prst="straightConnector1">
              <a:avLst/>
            </a:prstGeom>
            <a:ln w="12700" cap="rnd"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4DB3390-1909-2156-9F25-F7D6E011B683}"/>
                </a:ext>
              </a:extLst>
            </p:cNvPr>
            <p:cNvSpPr txBox="1"/>
            <p:nvPr/>
          </p:nvSpPr>
          <p:spPr>
            <a:xfrm>
              <a:off x="2794580" y="5365113"/>
              <a:ext cx="1391598" cy="2154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r"/>
              <a:r>
                <a:rPr lang="en-US" sz="1400" dirty="0">
                  <a:solidFill>
                    <a:schemeClr val="tx1"/>
                  </a:solidFill>
                </a:rPr>
                <a:t>Custom Function </a:t>
              </a:r>
            </a:p>
          </p:txBody>
        </p:sp>
        <p:cxnSp>
          <p:nvCxnSpPr>
            <p:cNvPr id="69" name="Straight Connector 196">
              <a:extLst>
                <a:ext uri="{FF2B5EF4-FFF2-40B4-BE49-F238E27FC236}">
                  <a16:creationId xmlns:a16="http://schemas.microsoft.com/office/drawing/2014/main" id="{370F1AC8-CAE0-94B4-C2FE-140EE145F095}"/>
                </a:ext>
              </a:extLst>
            </p:cNvPr>
            <p:cNvCxnSpPr>
              <a:cxnSpLocks/>
            </p:cNvCxnSpPr>
            <p:nvPr/>
          </p:nvCxnSpPr>
          <p:spPr>
            <a:xfrm>
              <a:off x="2446138" y="4117844"/>
              <a:ext cx="0" cy="266803"/>
            </a:xfrm>
            <a:prstGeom prst="straightConnector1">
              <a:avLst/>
            </a:prstGeom>
            <a:ln w="12700" cap="rnd"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196">
              <a:extLst>
                <a:ext uri="{FF2B5EF4-FFF2-40B4-BE49-F238E27FC236}">
                  <a16:creationId xmlns:a16="http://schemas.microsoft.com/office/drawing/2014/main" id="{77572329-07EE-C14D-D7BF-16CA2E90770D}"/>
                </a:ext>
              </a:extLst>
            </p:cNvPr>
            <p:cNvCxnSpPr>
              <a:cxnSpLocks/>
              <a:endCxn id="72" idx="0"/>
            </p:cNvCxnSpPr>
            <p:nvPr/>
          </p:nvCxnSpPr>
          <p:spPr>
            <a:xfrm>
              <a:off x="1638496" y="5638151"/>
              <a:ext cx="836419" cy="381321"/>
            </a:xfrm>
            <a:prstGeom prst="straightConnector1">
              <a:avLst/>
            </a:prstGeom>
            <a:ln w="12700" cap="rnd"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196">
              <a:extLst>
                <a:ext uri="{FF2B5EF4-FFF2-40B4-BE49-F238E27FC236}">
                  <a16:creationId xmlns:a16="http://schemas.microsoft.com/office/drawing/2014/main" id="{86EE7552-8B75-12C8-B107-138B2CD01E83}"/>
                </a:ext>
              </a:extLst>
            </p:cNvPr>
            <p:cNvCxnSpPr>
              <a:cxnSpLocks/>
              <a:endCxn id="72" idx="0"/>
            </p:cNvCxnSpPr>
            <p:nvPr/>
          </p:nvCxnSpPr>
          <p:spPr>
            <a:xfrm flipH="1">
              <a:off x="2474915" y="5638151"/>
              <a:ext cx="1000947" cy="381321"/>
            </a:xfrm>
            <a:prstGeom prst="straightConnector1">
              <a:avLst/>
            </a:prstGeom>
            <a:ln w="12700" cap="rnd"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72" name="Graphic 71" descr="Server with solid fill">
              <a:extLst>
                <a:ext uri="{FF2B5EF4-FFF2-40B4-BE49-F238E27FC236}">
                  <a16:creationId xmlns:a16="http://schemas.microsoft.com/office/drawing/2014/main" id="{227127DA-CD76-A1C8-6405-EE0FE4D48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07398" y="6019472"/>
              <a:ext cx="535034" cy="483059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1CA3A8F-6BDB-AD4D-541D-0F667F8FFFA5}"/>
                </a:ext>
              </a:extLst>
            </p:cNvPr>
            <p:cNvSpPr txBox="1"/>
            <p:nvPr/>
          </p:nvSpPr>
          <p:spPr>
            <a:xfrm>
              <a:off x="1172695" y="6492039"/>
              <a:ext cx="2600668" cy="430887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r"/>
              <a:r>
                <a:rPr lang="en-US" sz="1400" dirty="0">
                  <a:solidFill>
                    <a:schemeClr val="tx1"/>
                  </a:solidFill>
                </a:rPr>
                <a:t>Final Explanation Data Format</a:t>
              </a:r>
            </a:p>
            <a:p>
              <a:pPr algn="r"/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238F88A4-CF43-D59E-9471-54D6AF6D9ED0}"/>
              </a:ext>
            </a:extLst>
          </p:cNvPr>
          <p:cNvSpPr txBox="1"/>
          <p:nvPr/>
        </p:nvSpPr>
        <p:spPr>
          <a:xfrm>
            <a:off x="6329096" y="3993090"/>
            <a:ext cx="19601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 already defined method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39CC-8EE9-15A0-98C1-9809D5E1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B356B7-A3C3-C547-3A8D-FB643DC620CD}"/>
              </a:ext>
            </a:extLst>
          </p:cNvPr>
          <p:cNvSpPr/>
          <p:nvPr/>
        </p:nvSpPr>
        <p:spPr>
          <a:xfrm>
            <a:off x="0" y="0"/>
            <a:ext cx="9144000" cy="1193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Points &amp; Data Flexibility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5C0E5-53BF-5DEB-6065-3FD216883A35}"/>
              </a:ext>
            </a:extLst>
          </p:cNvPr>
          <p:cNvSpPr txBox="1"/>
          <p:nvPr/>
        </p:nvSpPr>
        <p:spPr>
          <a:xfrm>
            <a:off x="457200" y="1407717"/>
            <a:ext cx="16193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Flexibility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41B8CA-E175-571F-F22B-F84F3DF008A8}"/>
              </a:ext>
            </a:extLst>
          </p:cNvPr>
          <p:cNvSpPr/>
          <p:nvPr/>
        </p:nvSpPr>
        <p:spPr>
          <a:xfrm>
            <a:off x="457200" y="1938137"/>
            <a:ext cx="393192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000">
                <a:solidFill>
                  <a:srgbClr val="212121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(X, y)  →  Train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fly 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67A4EB-83CA-802F-9118-9A000836D3D2}"/>
              </a:ext>
            </a:extLst>
          </p:cNvPr>
          <p:cNvSpPr/>
          <p:nvPr/>
        </p:nvSpPr>
        <p:spPr>
          <a:xfrm>
            <a:off x="4754882" y="1938137"/>
            <a:ext cx="416052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000">
                <a:solidFill>
                  <a:srgbClr val="212121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Precomputed Tables (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explanation_df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metadata_df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569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251</Words>
  <Application>Microsoft Macintosh PowerPoint</Application>
  <PresentationFormat>On-screen Show (4:3)</PresentationFormat>
  <Paragraphs>56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Zhuoyu Wang</cp:lastModifiedBy>
  <cp:revision>5</cp:revision>
  <dcterms:created xsi:type="dcterms:W3CDTF">2013-01-27T09:14:16Z</dcterms:created>
  <dcterms:modified xsi:type="dcterms:W3CDTF">2026-05-06T16:55:18Z</dcterms:modified>
  <cp:category/>
</cp:coreProperties>
</file>